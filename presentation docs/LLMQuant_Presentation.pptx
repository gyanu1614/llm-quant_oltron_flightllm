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45" d="100"/>
          <a:sy n="145" d="100"/>
        </p:scale>
        <p:origin x="70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86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28204" y="994470"/>
            <a:ext cx="588759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spcAft>
                <a:spcPts val="900"/>
              </a:spcAft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Hardware/Software Co-Design for</a:t>
            </a:r>
            <a:endParaRPr lang="en-US" sz="2850" dirty="0"/>
          </a:p>
          <a:p>
            <a:pPr marL="0" indent="0" algn="ctr">
              <a:lnSpc>
                <a:spcPts val="2850"/>
              </a:lnSpc>
              <a:spcAft>
                <a:spcPts val="900"/>
              </a:spcAft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Quantization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426090" y="1985070"/>
            <a:ext cx="429167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225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ASIC and FPGA Approaches for Efficient Inference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00500" y="2838713"/>
            <a:ext cx="1143000" cy="28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87234" y="3554756"/>
            <a:ext cx="1369382" cy="159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Gyanendra Pandey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53691" y="3806129"/>
            <a:ext cx="24366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500"/>
              </a:spcAft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CECS 530 — Advanced Computer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00501" y="3988892"/>
            <a:ext cx="9517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825" baseline="30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December 2025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8624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902196"/>
            <a:ext cx="8382000" cy="592336"/>
          </a:xfrm>
          <a:prstGeom prst="roundRect">
            <a:avLst>
              <a:gd name="adj" fmla="val 9648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2925" y="1026021"/>
            <a:ext cx="82193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are Transforming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2925" y="1224111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LLaMA, Claude — billions of parameters delivering unprecedented capabilities in text, code, and reasoning.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22671" y="1799332"/>
            <a:ext cx="1168003" cy="643830"/>
          </a:xfrm>
          <a:prstGeom prst="roundRect">
            <a:avLst>
              <a:gd name="adj" fmla="val 887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83132" y="1942207"/>
            <a:ext cx="7833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83131" y="2166938"/>
            <a:ext cx="10861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but huge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65878" y="1966913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77889" y="1799332"/>
            <a:ext cx="1217712" cy="643830"/>
          </a:xfrm>
          <a:prstGeom prst="roundRect">
            <a:avLst>
              <a:gd name="adj" fmla="val 887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9738" y="1942207"/>
            <a:ext cx="8340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9738" y="2205036"/>
            <a:ext cx="948214" cy="95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140GB+ models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9901" y="19878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14701" y="1799332"/>
            <a:ext cx="1207591" cy="643830"/>
          </a:xfrm>
          <a:prstGeom prst="roundRect">
            <a:avLst>
              <a:gd name="adj" fmla="val 8877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6651" y="1942207"/>
            <a:ext cx="8236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6651" y="2193314"/>
            <a:ext cx="823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weights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36593" y="19878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41393" y="1799332"/>
            <a:ext cx="1711672" cy="643830"/>
          </a:xfrm>
          <a:prstGeom prst="roundRect">
            <a:avLst>
              <a:gd name="adj" fmla="val 887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28301" y="1942207"/>
            <a:ext cx="13378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Co-Design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8301" y="2184522"/>
            <a:ext cx="13378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inference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1000" y="2747963"/>
            <a:ext cx="4114800" cy="1422946"/>
          </a:xfrm>
          <a:prstGeom prst="roundRect">
            <a:avLst>
              <a:gd name="adj" fmla="val 4016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4825" y="287178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4825" y="3094583"/>
            <a:ext cx="3867150" cy="952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too large for available memory</a:t>
            </a:r>
            <a:endParaRPr lang="en-US" sz="1050" dirty="0"/>
          </a:p>
          <a:p>
            <a:pPr marL="171450" indent="-171450" algn="l">
              <a:lnSpc>
                <a:spcPts val="21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power consumption (300W/GPU)</a:t>
            </a:r>
            <a:endParaRPr lang="en-US" sz="1050" dirty="0"/>
          </a:p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cost at scale ($700K/day)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8200" y="2747963"/>
            <a:ext cx="4114800" cy="1422946"/>
          </a:xfrm>
          <a:prstGeom prst="roundRect">
            <a:avLst>
              <a:gd name="adj" fmla="val 4016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2025" y="287178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2025" y="3094583"/>
            <a:ext cx="3867150" cy="952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reduces memory 2-4×</a:t>
            </a:r>
            <a:endParaRPr lang="en-US" sz="1050" dirty="0"/>
          </a:p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hardware eliminates overhead</a:t>
            </a:r>
            <a:endParaRPr lang="en-US" sz="1050" dirty="0"/>
          </a:p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achieves both goals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1000" y="4456658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3875" y="4561433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We analyze how hardware-software co-design approaches (Oltron, FlightLLM) outperform software-only quantization methods.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147018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Efficient LLM Deployment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606004"/>
            <a:ext cx="2667000" cy="1125736"/>
          </a:xfrm>
          <a:prstGeom prst="roundRect">
            <a:avLst>
              <a:gd name="adj" fmla="val 507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9494" y="1767929"/>
            <a:ext cx="2390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$700K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9494" y="2251770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per 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9494" y="2436465"/>
            <a:ext cx="2390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ChatGPT inference cost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38500" y="1606004"/>
            <a:ext cx="2667000" cy="1125736"/>
          </a:xfrm>
          <a:prstGeom prst="roundRect">
            <a:avLst>
              <a:gd name="adj" fmla="val 5077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6994" y="1767929"/>
            <a:ext cx="2390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300W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76994" y="2251770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per GPU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76994" y="2436465"/>
            <a:ext cx="2390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A100 power consumption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0" y="1606004"/>
            <a:ext cx="2667000" cy="1125736"/>
          </a:xfrm>
          <a:prstGeom prst="roundRect">
            <a:avLst>
              <a:gd name="adj" fmla="val 507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34494" y="1767929"/>
            <a:ext cx="2390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140GB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34494" y="2251770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34494" y="2436465"/>
            <a:ext cx="2390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LLaMA-70B in FP16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1000" y="3055590"/>
            <a:ext cx="2692450" cy="870496"/>
          </a:xfrm>
          <a:prstGeom prst="roundRect">
            <a:avLst>
              <a:gd name="adj" fmla="val 656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825" y="3179415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Datacenter Impact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4825" y="3402211"/>
            <a:ext cx="2493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GPUs running 24/7. Power costs dominate operating expenses. Every efficiency gain multiplies across the fleet.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25850" y="3055590"/>
            <a:ext cx="2692450" cy="870496"/>
          </a:xfrm>
          <a:prstGeom prst="roundRect">
            <a:avLst>
              <a:gd name="adj" fmla="val 656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9675" y="3179415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Gap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9675" y="3402211"/>
            <a:ext cx="2493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GPUs have 8-24GB. Most LLMs don't fit. Quantization + hardware co-design can democratize access.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70699" y="3055590"/>
            <a:ext cx="2692450" cy="870496"/>
          </a:xfrm>
          <a:prstGeom prst="roundRect">
            <a:avLst>
              <a:gd name="adj" fmla="val 656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4524" y="3179415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4524" y="3402211"/>
            <a:ext cx="24936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and inference consume significant energy. Efficient deployment reduces carbon footprint at scale.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1000" y="4211836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3875" y="4316611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r>
              <a:rPr lang="en-US" sz="825" dirty="0">
                <a:latin typeface="Arial" pitchFamily="34" charset="0"/>
                <a:ea typeface="Arial" pitchFamily="34" charset="-122"/>
                <a:cs typeface="Arial" pitchFamily="34" charset="-120"/>
              </a:rPr>
              <a:t> We need efficient deployment — not just accurate models. Hardware-software co-design addresses both.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Memory Wall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97180" y="1028849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requires </a:t>
            </a: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GB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memory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7180" y="135269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laptop has 16 GB. Our GPU has 24 GB. The model doesn't fit.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76933" y="1920329"/>
            <a:ext cx="4353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GB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104602" y="2131665"/>
            <a:ext cx="571500" cy="1524000"/>
          </a:xfrm>
          <a:prstGeom prst="roundRect">
            <a:avLst>
              <a:gd name="adj" fmla="val 5000"/>
            </a:avLst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02221" y="3693765"/>
            <a:ext cx="5879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276499" y="3878461"/>
            <a:ext cx="232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78372" y="2682329"/>
            <a:ext cx="3650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GB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71514" y="2893665"/>
            <a:ext cx="571500" cy="762000"/>
          </a:xfrm>
          <a:prstGeom prst="roundRect">
            <a:avLst>
              <a:gd name="adj" fmla="val 500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69132" y="3693765"/>
            <a:ext cx="5879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054126" y="3878461"/>
            <a:ext cx="210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5284" y="3063329"/>
            <a:ext cx="3650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GB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638425" y="3274665"/>
            <a:ext cx="571500" cy="381000"/>
          </a:xfrm>
          <a:prstGeom prst="roundRect">
            <a:avLst>
              <a:gd name="adj" fmla="val 75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36044" y="3693765"/>
            <a:ext cx="5879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821037" y="3878461"/>
            <a:ext cx="210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9155" y="2297311"/>
            <a:ext cx="9525" cy="1714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62090" y="3187154"/>
            <a:ext cx="3650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GB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755380" y="3398490"/>
            <a:ext cx="571500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05237" y="3693765"/>
            <a:ext cx="4812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4090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937843" y="3878461"/>
            <a:ext cx="210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24090" y="3272879"/>
            <a:ext cx="3650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GB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517380" y="3484215"/>
            <a:ext cx="571500" cy="171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1809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8406" y="3693765"/>
            <a:ext cx="3562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97164" y="3878461"/>
            <a:ext cx="2160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96000" y="2096542"/>
            <a:ext cx="2667000" cy="1739057"/>
          </a:xfrm>
          <a:prstGeom prst="roundRect">
            <a:avLst>
              <a:gd name="adj" fmla="val 3286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57925" y="2258467"/>
            <a:ext cx="23900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Quantization Helps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7925" y="2532757"/>
            <a:ext cx="2390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→ INT8: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2x smaller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57925" y="2875657"/>
            <a:ext cx="2390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→ INT4: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4x smaller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57925" y="3261420"/>
            <a:ext cx="2343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57925" y="3380482"/>
            <a:ext cx="2390013" cy="35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But:</a:t>
            </a:r>
            <a:r>
              <a:rPr lang="en-US" sz="10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Naive quantization breaks model accuracy!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1000" y="4316611"/>
            <a:ext cx="8382000" cy="35049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95288" y="4316611"/>
            <a:ext cx="0" cy="35049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1975" y="4411861"/>
            <a:ext cx="82095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Quantization reduces precision to shrink model size — but we need smart approaches to maintain accuracy.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624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Quantization?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69764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Reducing numerical precision of model weights and activations to decrease memory and computation.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5851" y="1447800"/>
            <a:ext cx="990749" cy="274290"/>
          </a:xfrm>
          <a:prstGeom prst="roundRect">
            <a:avLst>
              <a:gd name="adj" fmla="val 1389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429459" y="1500552"/>
            <a:ext cx="79385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(32-bit)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92901" y="1799758"/>
            <a:ext cx="1785008" cy="914387"/>
          </a:xfrm>
          <a:prstGeom prst="roundRect">
            <a:avLst>
              <a:gd name="adj" fmla="val 600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302119" y="1922117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3.14159265...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0211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4974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9736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4499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9261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4024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8786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3549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8311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3074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51154" y="2244501"/>
            <a:ext cx="10492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bits per value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84241" y="2527846"/>
            <a:ext cx="539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26094" y="1934470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21051" y="1447800"/>
            <a:ext cx="901750" cy="274290"/>
          </a:xfrm>
          <a:prstGeom prst="roundRect">
            <a:avLst>
              <a:gd name="adj" fmla="val 1389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73451" y="1504950"/>
            <a:ext cx="749350" cy="135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(8-bit)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12199" y="1773381"/>
            <a:ext cx="1785008" cy="914387"/>
          </a:xfrm>
          <a:prstGeom prst="roundRect">
            <a:avLst>
              <a:gd name="adj" fmla="val 600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92819" y="1922117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 (integer)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9281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4044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8806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3569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8331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33094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97895" y="2226917"/>
            <a:ext cx="10492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 per value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46685" y="2520573"/>
            <a:ext cx="662881" cy="11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smaller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16794" y="1934470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11751" y="1447800"/>
            <a:ext cx="901750" cy="274290"/>
          </a:xfrm>
          <a:prstGeom prst="roundRect">
            <a:avLst>
              <a:gd name="adj" fmla="val 1389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4151" y="1504950"/>
            <a:ext cx="749350" cy="9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(4-bit)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52368" y="1764590"/>
            <a:ext cx="1785008" cy="914387"/>
          </a:xfrm>
          <a:prstGeom prst="roundRect">
            <a:avLst>
              <a:gd name="adj" fmla="val 6007"/>
            </a:avLst>
          </a:prstGeom>
          <a:solidFill>
            <a:srgbClr val="EBF8FF"/>
          </a:solidFill>
          <a:ln w="9525">
            <a:solidFill>
              <a:srgbClr val="90CDF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83519" y="1922117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B6C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 (integer)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8351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63B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31144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63B3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78769" y="2093567"/>
            <a:ext cx="28575" cy="95250"/>
          </a:xfrm>
          <a:prstGeom prst="roundRect">
            <a:avLst>
              <a:gd name="adj" fmla="val 33333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88595" y="2226917"/>
            <a:ext cx="10492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bits per value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03555" y="2520574"/>
            <a:ext cx="862906" cy="11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smaller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01360" y="3031888"/>
            <a:ext cx="2385646" cy="1147504"/>
          </a:xfrm>
          <a:prstGeom prst="roundRect">
            <a:avLst>
              <a:gd name="adj" fmla="val 6565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213464" y="3123526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213464" y="338002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model size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213464" y="353242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inference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13464" y="368482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power usage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46024" y="3031888"/>
            <a:ext cx="2385646" cy="1147504"/>
          </a:xfrm>
          <a:prstGeom prst="roundRect">
            <a:avLst>
              <a:gd name="adj" fmla="val 6565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58127" y="3141110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58127" y="339761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loss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58127" y="355001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sensitivity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58127" y="370241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degradation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81000" y="4446091"/>
            <a:ext cx="8382000" cy="2989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395288" y="4446091"/>
            <a:ext cx="0" cy="298996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2925" y="4522291"/>
            <a:ext cx="8248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tradeoff: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 precision means smaller size, but we risk losing accuracy if not done carefully.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8624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Hardware Matters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046857"/>
            <a:ext cx="8382000" cy="382786"/>
          </a:xfrm>
          <a:prstGeom prst="roundRect">
            <a:avLst>
              <a:gd name="adj" fmla="val 1493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2925" y="1151632"/>
            <a:ext cx="8219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LLM inference is </a:t>
            </a: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memory-bound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, not compute-bound. The GPU sits idle waiting for data.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715393"/>
            <a:ext cx="4076700" cy="1619101"/>
          </a:xfrm>
          <a:prstGeom prst="roundRect">
            <a:avLst>
              <a:gd name="adj" fmla="val 3530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5965" y="185826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Architecture Bottleneck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526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812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098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384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670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956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5965" y="2366814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10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GPU Cores (mostly idle)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98613" y="2582019"/>
            <a:ext cx="841474" cy="228600"/>
          </a:xfrm>
          <a:prstGeom prst="roundRect">
            <a:avLst>
              <a:gd name="adj" fmla="val 16667"/>
            </a:avLst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60977" y="2620119"/>
            <a:ext cx="7477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1210" y="2943969"/>
            <a:ext cx="1196280" cy="247650"/>
          </a:xfrm>
          <a:prstGeom prst="roundRect">
            <a:avLst>
              <a:gd name="adj" fmla="val 15385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18918" y="3005721"/>
            <a:ext cx="12425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000" y="3429744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GPU Specs: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3725019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Compute: 312 TFLOPS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000" y="4020294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BW: 2 TB/s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000" y="4315569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LLaMA-70B:</a:t>
            </a:r>
            <a:r>
              <a:rPr lang="en-US" sz="12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140GB per token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6300" y="1715393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Quantization Helps (But Not Enough)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86300" y="1970633"/>
            <a:ext cx="4076700" cy="518071"/>
          </a:xfrm>
          <a:prstGeom prst="roundRect">
            <a:avLst>
              <a:gd name="adj" fmla="val 11031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91075" y="207540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Reduces memory traffic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91075" y="225057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Smaller weights = faster transfer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86300" y="2564904"/>
            <a:ext cx="4076700" cy="518071"/>
          </a:xfrm>
          <a:prstGeom prst="roundRect">
            <a:avLst>
              <a:gd name="adj" fmla="val 1103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075" y="2669679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Software overhead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91075" y="284485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Dequantization at runtime costs cycles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6300" y="3159175"/>
            <a:ext cx="4076700" cy="518071"/>
          </a:xfrm>
          <a:prstGeom prst="roundRect">
            <a:avLst>
              <a:gd name="adj" fmla="val 1103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91075" y="326395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Fixed GPU architecture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91075" y="343912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Cannot adapt to outlier patterns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86300" y="3753445"/>
            <a:ext cx="4076700" cy="356146"/>
          </a:xfrm>
          <a:prstGeom prst="roundRect">
            <a:avLst>
              <a:gd name="adj" fmla="val 1604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91075" y="385822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Custom hardware for quantized inference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 Approach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849809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Libraries like </a:t>
            </a: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bitsandbytes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let us run quantized models on standard GPUs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518" y="1054597"/>
            <a:ext cx="8382000" cy="1057126"/>
          </a:xfrm>
          <a:prstGeom prst="roundRect">
            <a:avLst>
              <a:gd name="adj" fmla="val 625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9182" y="1259649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Software Quantization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17545" y="1535198"/>
            <a:ext cx="1017428" cy="234255"/>
          </a:xfrm>
          <a:prstGeom prst="roundRect">
            <a:avLst>
              <a:gd name="adj" fmla="val 24396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52812" y="1598003"/>
            <a:ext cx="881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Weights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75365" y="1557180"/>
            <a:ext cx="397377" cy="139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57867" y="1516073"/>
            <a:ext cx="906325" cy="234255"/>
          </a:xfrm>
          <a:prstGeom prst="roundRect">
            <a:avLst>
              <a:gd name="adj" fmla="val 24396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48656" y="1587012"/>
            <a:ext cx="7667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507" y="1539596"/>
            <a:ext cx="234055" cy="139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3797" y="1508821"/>
            <a:ext cx="792862" cy="234255"/>
          </a:xfrm>
          <a:prstGeom prst="roundRect">
            <a:avLst>
              <a:gd name="adj" fmla="val 24396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60423" y="1571626"/>
            <a:ext cx="6048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39650" y="1520542"/>
            <a:ext cx="52517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36415" y="1491238"/>
            <a:ext cx="673304" cy="234255"/>
          </a:xfrm>
          <a:prstGeom prst="roundRect">
            <a:avLst>
              <a:gd name="adj" fmla="val 24396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65494" y="1554043"/>
            <a:ext cx="457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3674" y="1872031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000" b="1" dirty="0">
                <a:solidFill>
                  <a:srgbClr val="FFB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Dequantize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step is overhead — GPU converts before every operation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000" y="2457450"/>
            <a:ext cx="4238625" cy="1861096"/>
          </a:xfrm>
          <a:prstGeom prst="roundRect">
            <a:avLst>
              <a:gd name="adj" fmla="val 307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4825" y="2581275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Frameworks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4825" y="2804071"/>
            <a:ext cx="39909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0550" y="288979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bitsandbytes: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 Dettmers, INT8/INT4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4825" y="3166021"/>
            <a:ext cx="39909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0550" y="325174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Microsoft, optimized INT8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4825" y="3527971"/>
            <a:ext cx="39909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0550" y="361369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Georgi Gerganov, CPU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4825" y="3889921"/>
            <a:ext cx="39909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0550" y="397564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GPTQ: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Post-training quantization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2025" y="2457450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Limitation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72025" y="2680246"/>
            <a:ext cx="3990975" cy="647700"/>
          </a:xfrm>
          <a:prstGeom prst="roundRect">
            <a:avLst>
              <a:gd name="adj" fmla="val 882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5850" y="2804071"/>
            <a:ext cx="3818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GPU hardware is designed for </a:t>
            </a: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floating-point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operations. We store as INT8 but must convert back to FP16 for every computation. This overhead can exceed the memory savings!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1000" y="4566196"/>
            <a:ext cx="8382000" cy="2989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95288" y="4566196"/>
            <a:ext cx="0" cy="298996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2925" y="4642396"/>
            <a:ext cx="8248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 approaches work but cannot fully exploit quantization because the hardware is not designed for it.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 Limitations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792807"/>
            <a:ext cx="8382000" cy="318046"/>
          </a:xfrm>
          <a:prstGeom prst="roundRect">
            <a:avLst>
              <a:gd name="adj" fmla="val 1796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23875" y="878532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Finding: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Quantization does not always speed things up — it depends on the implementation!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1358503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493929"/>
            <a:ext cx="8382000" cy="975122"/>
          </a:xfrm>
          <a:prstGeom prst="roundRect">
            <a:avLst>
              <a:gd name="adj" fmla="val 586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0525" y="1503454"/>
            <a:ext cx="8362950" cy="234255"/>
          </a:xfrm>
          <a:prstGeom prst="roundRect">
            <a:avLst>
              <a:gd name="adj" fmla="val 2033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0525" y="1560604"/>
            <a:ext cx="178370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9255" y="1560604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92736" y="1560604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6216" y="1560604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99697" y="1560604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0525" y="1976727"/>
            <a:ext cx="8362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90525" y="1794859"/>
            <a:ext cx="178370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bitsandbytes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255" y="1794859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2736" y="1794859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6216" y="1794859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99697" y="1794859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SLOWER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0525" y="2220508"/>
            <a:ext cx="8362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90525" y="2038640"/>
            <a:ext cx="178370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39255" y="203864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2736" y="203864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6216" y="203864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99697" y="203864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speedup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0525" y="2282420"/>
            <a:ext cx="178370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39255" y="228242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2736" y="228242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6216" y="228242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99697" y="228242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limited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1000" y="2918371"/>
            <a:ext cx="4114800" cy="1527572"/>
          </a:xfrm>
          <a:prstGeom prst="roundRect">
            <a:avLst>
              <a:gd name="adj" fmla="val 374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775" y="3023146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Why the Slowdown?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1500" y="3280321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Dequantization overhead on every operation.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" y="3571726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Memory access patterns not optimized.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" y="3863132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GPU cores designed for FP, not INT.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1500" y="4154537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Overhead can exceed memory savings.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48200" y="2918371"/>
            <a:ext cx="4114800" cy="1527572"/>
          </a:xfrm>
          <a:prstGeom prst="roundRect">
            <a:avLst>
              <a:gd name="adj" fmla="val 374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2975" y="3023146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2975" y="3266398"/>
            <a:ext cx="398335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runs on </a:t>
            </a: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hardware</a:t>
            </a: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matter how clever our code, we are limited by what the GPU can physically do. We need hardware designed for quantized operations.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1000" y="4655493"/>
            <a:ext cx="838200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395288" y="4655493"/>
            <a:ext cx="0" cy="2476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2925" y="4712643"/>
            <a:ext cx="824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Software-only approaches cannot fully exploit quantization — the hardware is not designed for it.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Focus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384995"/>
            <a:ext cx="8382000" cy="439936"/>
          </a:xfrm>
          <a:prstGeom prst="roundRect">
            <a:avLst>
              <a:gd name="adj" fmla="val 12991"/>
            </a:avLst>
          </a:prstGeom>
          <a:solidFill>
            <a:schemeClr val="accent1">
              <a:lumMod val="75000"/>
            </a:schemeClr>
          </a:solidFill>
          <a:ln w="1905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3197" y="1518345"/>
            <a:ext cx="8277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hardware-assisted quantization approaches compare to software-only methods in terms of performance and energy efficiency?</a:t>
            </a:r>
            <a:endParaRPr lang="en-US" sz="975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81000" y="207258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Approaches Compared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2415480"/>
            <a:ext cx="2717750" cy="600075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2501205"/>
            <a:ext cx="2597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Software-Only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725" y="2663130"/>
            <a:ext cx="2546300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>
              <a:lnSpc>
                <a:spcPts val="2100"/>
              </a:lnSpc>
              <a:buSzPct val="100000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bitsandbytes, ONNX, llama.cpp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13050" y="2415480"/>
            <a:ext cx="2717750" cy="600075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98775" y="2501205"/>
            <a:ext cx="2597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Oltron (ASIC)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8775" y="2663130"/>
            <a:ext cx="2546300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>
              <a:lnSpc>
                <a:spcPts val="2100"/>
              </a:lnSpc>
              <a:buSzPct val="100000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2024, Peking University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5101" y="2415480"/>
            <a:ext cx="2717750" cy="600075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30826" y="2501205"/>
            <a:ext cx="2597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FlightLLM (FPGA)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0826" y="2663130"/>
            <a:ext cx="2546300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>
              <a:lnSpc>
                <a:spcPts val="2100"/>
              </a:lnSpc>
              <a:buSzPct val="100000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2024, Tsinghua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3263205"/>
            <a:ext cx="2797225" cy="876300"/>
          </a:xfrm>
          <a:prstGeom prst="roundRect">
            <a:avLst>
              <a:gd name="adj" fmla="val 6522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725" y="3348930"/>
            <a:ext cx="2678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725" y="3520380"/>
            <a:ext cx="2632025" cy="5334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>
              <a:lnSpc>
                <a:spcPts val="2100"/>
              </a:lnSpc>
              <a:buSzPct val="100000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Throughput, Energy Efficiency, Accuracy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2525" y="3263205"/>
            <a:ext cx="5470475" cy="8763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06812" y="3263205"/>
            <a:ext cx="0" cy="87630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6350" y="3339405"/>
            <a:ext cx="53564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16350" y="3581192"/>
            <a:ext cx="5356428" cy="384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Hardware-assisted approaches will outperform software by eliminating dequantization overhead.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Oltron: ASIC Approach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963067"/>
            <a:ext cx="8382000" cy="521940"/>
          </a:xfrm>
          <a:prstGeom prst="roundRect">
            <a:avLst>
              <a:gd name="adj" fmla="val 10950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067842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Algorithm-Hardware Co-design for Outlier-Aware Quantization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3875" y="1246882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2024 · Peking University · Custom ASIC Accelerator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81017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Outlier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191643"/>
            <a:ext cx="4219575" cy="1295400"/>
          </a:xfrm>
          <a:prstGeom prst="roundRect">
            <a:avLst>
              <a:gd name="adj" fmla="val 4412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5106" y="2315468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Value Distribution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00238" y="3048893"/>
            <a:ext cx="95250" cy="142875"/>
          </a:xfrm>
          <a:prstGeom prst="roundRect">
            <a:avLst>
              <a:gd name="adj" fmla="val 20000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24062" y="2906018"/>
            <a:ext cx="95250" cy="285750"/>
          </a:xfrm>
          <a:prstGeom prst="roundRect">
            <a:avLst>
              <a:gd name="adj" fmla="val 2000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7888" y="2667893"/>
            <a:ext cx="95250" cy="523875"/>
          </a:xfrm>
          <a:prstGeom prst="roundRect">
            <a:avLst>
              <a:gd name="adj" fmla="val 2000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71713" y="2525018"/>
            <a:ext cx="95250" cy="666750"/>
          </a:xfrm>
          <a:prstGeom prst="roundRect">
            <a:avLst>
              <a:gd name="adj" fmla="val 20000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95538" y="2667893"/>
            <a:ext cx="95250" cy="523875"/>
          </a:xfrm>
          <a:prstGeom prst="roundRect">
            <a:avLst>
              <a:gd name="adj" fmla="val 2000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9363" y="2906018"/>
            <a:ext cx="95250" cy="285750"/>
          </a:xfrm>
          <a:prstGeom prst="roundRect">
            <a:avLst>
              <a:gd name="adj" fmla="val 2000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43188" y="3048893"/>
            <a:ext cx="95250" cy="142875"/>
          </a:xfrm>
          <a:prstGeom prst="roundRect">
            <a:avLst>
              <a:gd name="adj" fmla="val 20000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86088" y="2715518"/>
            <a:ext cx="95250" cy="476250"/>
          </a:xfrm>
          <a:prstGeom prst="roundRect">
            <a:avLst>
              <a:gd name="adj" fmla="val 20000"/>
            </a:avLst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1075" y="2191643"/>
            <a:ext cx="3971925" cy="500955"/>
          </a:xfrm>
          <a:prstGeom prst="roundRect">
            <a:avLst>
              <a:gd name="adj" fmla="val 1140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5850" y="2296418"/>
            <a:ext cx="3837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Scale for normal values?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5850" y="2467868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Normal 0.5 → 64 ✓ | Outlier 100 → OVERFLOW! 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91075" y="2768798"/>
            <a:ext cx="3971925" cy="500955"/>
          </a:xfrm>
          <a:prstGeom prst="roundRect">
            <a:avLst>
              <a:gd name="adj" fmla="val 1140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5850" y="2873573"/>
            <a:ext cx="3837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Scale for outliers?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5850" y="3045023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Outlier 100 → 127 ✓ | Normal 0.5 → rounds to 1 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950" y="3772792"/>
            <a:ext cx="8401050" cy="499021"/>
          </a:xfrm>
          <a:prstGeom prst="roundRect">
            <a:avLst>
              <a:gd name="adj" fmla="val 1604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3875" y="3877568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Oltron's insight: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Outliers aren't random — they cluster in specific channels, and patterns vary by layer. Design hardware that </a:t>
            </a: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adapts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to each layer's outlier distribution.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1000" y="4376589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3875" y="4481364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Approach: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Algorithm finds optimal outlier ratio per layer → Reconfigurable hardware adapts accordingly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Oltron: Key Innovations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24494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Innovations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482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4825" y="1959587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Quantization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4825" y="2167935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each layer's outlier distribution. Allocate INT4 vs FP16 precision per-channel based on sensitivity.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4825" y="2648943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04825" y="2721114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2% FP16 | Layer 5: 15% FP16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1945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4327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327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Reconfigurable PEs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3275" y="220310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elements dynamically switch between INT4 and FP16 operations at runtime.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43275" y="2657735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3343275" y="2712322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adapts to each layer's needs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5790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8172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172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Tile-Based Dataflow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1725" y="220310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Reorganize memory access patterns to maximize data reuse and minimize bandwidth requirements.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725" y="2657735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6181725" y="2712322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memory bottleneck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3180308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3875" y="3285083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Principle:</a:t>
            </a: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Algorithm determines optimal outlier ratio → Hardware reconfigures to match → Both work together for maximum efficiency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1000" y="3803154"/>
            <a:ext cx="8382000" cy="666750"/>
          </a:xfrm>
          <a:prstGeom prst="roundRect">
            <a:avLst>
              <a:gd name="adj" fmla="val 8571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30022" y="3917454"/>
            <a:ext cx="5132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830022" y="4184154"/>
            <a:ext cx="5917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88941" y="3917454"/>
            <a:ext cx="9878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588941" y="4184154"/>
            <a:ext cx="11389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5258" y="3917454"/>
            <a:ext cx="8334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05258" y="4184154"/>
            <a:ext cx="960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Loss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05892" y="3917454"/>
            <a:ext cx="8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12nm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705892" y="4184154"/>
            <a:ext cx="9281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Node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8329" y="4781550"/>
            <a:ext cx="100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Oltron: Results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499443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vs OliVe (Previous Best)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735634"/>
            <a:ext cx="4076700" cy="975122"/>
          </a:xfrm>
          <a:prstGeom prst="roundRect">
            <a:avLst>
              <a:gd name="adj" fmla="val 586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1745159"/>
            <a:ext cx="4057650" cy="234255"/>
          </a:xfrm>
          <a:prstGeom prst="roundRect">
            <a:avLst>
              <a:gd name="adj" fmla="val 2033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1802309"/>
            <a:ext cx="1107567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76375" y="1802309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6975" y="1802309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57575" y="1802309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390525" y="2218432"/>
            <a:ext cx="4057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0525" y="2036564"/>
            <a:ext cx="1107567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6375" y="2036564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6975" y="2036564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57575" y="2036564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 faster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0525" y="2462212"/>
            <a:ext cx="4057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525" y="2280345"/>
            <a:ext cx="1107567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76375" y="228034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6975" y="228034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7575" y="228034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 better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0525" y="2524125"/>
            <a:ext cx="1107567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Loss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76375" y="252412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6975" y="252412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1%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57575" y="252412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2825055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1000" y="3028801"/>
            <a:ext cx="4076700" cy="563761"/>
          </a:xfrm>
          <a:prstGeom prst="roundRect">
            <a:avLst>
              <a:gd name="adj" fmla="val 1013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725" y="3114526"/>
            <a:ext cx="1250900" cy="392311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2224" y="3181201"/>
            <a:ext cx="11399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2224" y="3306812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12nm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93825" y="3114526"/>
            <a:ext cx="1250900" cy="392311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49325" y="3181201"/>
            <a:ext cx="11399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49325" y="3306812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MHz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20926" y="3114526"/>
            <a:ext cx="1250900" cy="392311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76425" y="3181201"/>
            <a:ext cx="11399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76425" y="3306812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LLaMA, OPT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86300" y="1499443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Results?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86300" y="1722239"/>
            <a:ext cx="4076700" cy="443805"/>
          </a:xfrm>
          <a:prstGeom prst="roundRect">
            <a:avLst>
              <a:gd name="adj" fmla="val 1287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2025" y="1807964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Adaptive Quantization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2025" y="196036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Each layer optimized individually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86300" y="2223195"/>
            <a:ext cx="4076700" cy="443805"/>
          </a:xfrm>
          <a:prstGeom prst="roundRect">
            <a:avLst>
              <a:gd name="adj" fmla="val 1287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2025" y="2308920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Hardware Flexibility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2025" y="2461320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No wasted compute cycles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86300" y="2724150"/>
            <a:ext cx="4076700" cy="443805"/>
          </a:xfrm>
          <a:prstGeom prst="roundRect">
            <a:avLst>
              <a:gd name="adj" fmla="val 1287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2025" y="2809875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Memory Efficiency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2025" y="2962275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Tile-based layout reduces overhead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86300" y="3225105"/>
            <a:ext cx="4076700" cy="443805"/>
          </a:xfrm>
          <a:prstGeom prst="roundRect">
            <a:avLst>
              <a:gd name="adj" fmla="val 1287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2025" y="3310830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Co-Design Synergy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2025" y="3463230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Algorithm + hardware working together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81000" y="3916561"/>
            <a:ext cx="8382000" cy="2989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95288" y="3916561"/>
            <a:ext cx="0" cy="298996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2925" y="3992761"/>
            <a:ext cx="8248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1.9x speedup and 1.6x energy efficiency with less than 1% accuracy loss — the power of co-design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FlightLLM: FPGA Approach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011734"/>
            <a:ext cx="8382000" cy="521940"/>
          </a:xfrm>
          <a:prstGeom prst="roundRect">
            <a:avLst>
              <a:gd name="adj" fmla="val 10950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116509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Large Language Model Inference with a Complete Mapping Flow on FPGAs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3875" y="1295549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2024 · Tsinghua and Shanghai Jiao Tong University · Xilinx U280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1800374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FPGA?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188964"/>
            <a:ext cx="4114800" cy="1249412"/>
          </a:xfrm>
          <a:prstGeom prst="roundRect">
            <a:avLst>
              <a:gd name="adj" fmla="val 457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775" y="229373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Limitations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2450" y="2564160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Fixed architecture: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Cannot skip zero computations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2450" y="285556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Memory bottleneck: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Must fetch from DRAM every token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2450" y="3146971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High power: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A100 draws 300-400W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8200" y="2188964"/>
            <a:ext cx="4114800" cy="1249412"/>
          </a:xfrm>
          <a:prstGeom prst="roundRect">
            <a:avLst>
              <a:gd name="adj" fmla="val 4574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2975" y="229373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Advantages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9650" y="2564160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Reconfigurable fabric: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Design custom compute paths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9650" y="285556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On-chip SRAM: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100x faster than DRAM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9650" y="3146971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Lower power: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Around 75W for similar 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5288" y="3705076"/>
            <a:ext cx="8367712" cy="559892"/>
          </a:xfrm>
          <a:prstGeom prst="roundRect">
            <a:avLst>
              <a:gd name="adj" fmla="val 11368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775" y="3833500"/>
            <a:ext cx="833589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FlightLLM insight: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Design FPGA architecture specifically for sparse, quantized LLM inference — exploit sparsity, keep data on-chip, compile once and run any sequence length.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1000" y="4436418"/>
            <a:ext cx="8382000" cy="285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95288" y="4436418"/>
            <a:ext cx="0" cy="2857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2925" y="4512618"/>
            <a:ext cx="824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Efficient decode phase — the bottleneck in real LLM serving (one token at a time)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FlightLLM: Key Innovations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24494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Innovations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16653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482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482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Sparse DSP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4825" y="215914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DSP units that detect and skip zero-value computations entirely. No wasted cycles.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4825" y="2604983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04825" y="2685946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1.6× compute efficiency gain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1945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16653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327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4327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Always-On-Chip Decode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3275" y="215914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stored entirely in fast SRAM instead of slow DRAM. Eliminates memory bottleneck.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43275" y="2604983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343275" y="2685946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100× faster memory access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57900" y="1662846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16653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172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725" y="1959587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Length-Adaptive Compile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1725" y="2123974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compilation works for any sequence length. No recompilation needed for different inputs.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725" y="2587399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181725" y="2677154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Handles 128 to 2048+ tokens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1000" y="3180308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875" y="3285083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FPGA Advantage: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Reconfigurable fabric enables sparsity exploitation + on-chip memory optimization — impossible on fixed GPU architecture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1000" y="3803154"/>
            <a:ext cx="8382000" cy="666750"/>
          </a:xfrm>
          <a:prstGeom prst="roundRect">
            <a:avLst>
              <a:gd name="adj" fmla="val 8571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00288" y="3917454"/>
            <a:ext cx="7488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12368" y="4222254"/>
            <a:ext cx="9275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4291" y="3917454"/>
            <a:ext cx="867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1.2×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17577" y="4222254"/>
            <a:ext cx="1235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A100 Throughput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49461" y="3917454"/>
            <a:ext cx="5291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3085" y="4222254"/>
            <a:ext cx="751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Draw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9645" y="3917454"/>
            <a:ext cx="491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949644" y="4220264"/>
            <a:ext cx="751263" cy="13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Xilinx U280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FlightLLM: Results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423095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645890"/>
            <a:ext cx="4095750" cy="975122"/>
          </a:xfrm>
          <a:prstGeom prst="roundRect">
            <a:avLst>
              <a:gd name="adj" fmla="val 586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1655415"/>
            <a:ext cx="4076700" cy="234255"/>
          </a:xfrm>
          <a:prstGeom prst="roundRect">
            <a:avLst>
              <a:gd name="adj" fmla="val 2033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90525" y="1712565"/>
            <a:ext cx="1097851" cy="11995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6850" y="1712565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6975" y="1712565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67100" y="1712565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0525" y="2128689"/>
            <a:ext cx="40767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390525" y="1946821"/>
            <a:ext cx="1097851" cy="11995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V100S GPU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6850" y="194682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6975" y="194682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 (baseline)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67100" y="194682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0525" y="2372469"/>
            <a:ext cx="40767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390525" y="2190601"/>
            <a:ext cx="1097851" cy="11995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GPU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6850" y="219060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6975" y="219060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67100" y="219060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0525" y="2377232"/>
            <a:ext cx="4076700" cy="234255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0525" y="2434382"/>
            <a:ext cx="1097851" cy="11995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6850" y="2434382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6975" y="2434382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67100" y="2434382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 better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1000" y="3050365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1000" y="3254112"/>
            <a:ext cx="4095750" cy="550366"/>
          </a:xfrm>
          <a:prstGeom prst="roundRect">
            <a:avLst>
              <a:gd name="adj" fmla="val 10384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725" y="3339837"/>
            <a:ext cx="1269950" cy="378916"/>
          </a:xfrm>
          <a:prstGeom prst="roundRect">
            <a:avLst>
              <a:gd name="adj" fmla="val 100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2034" y="3406512"/>
            <a:ext cx="11593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2034" y="3532123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Xilinx U280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93825" y="3339837"/>
            <a:ext cx="1269950" cy="378916"/>
          </a:xfrm>
          <a:prstGeom prst="roundRect">
            <a:avLst>
              <a:gd name="adj" fmla="val 100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49134" y="3406512"/>
            <a:ext cx="11593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49134" y="3532123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8GB HBM2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20926" y="3339837"/>
            <a:ext cx="1269950" cy="378916"/>
          </a:xfrm>
          <a:prstGeom prst="roundRect">
            <a:avLst>
              <a:gd name="adj" fmla="val 100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76235" y="3406512"/>
            <a:ext cx="11593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76235" y="3532123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LLaMA-7B INT4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4474" y="1423095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Comparison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99131" y="1654682"/>
            <a:ext cx="4095750" cy="1693366"/>
          </a:xfrm>
          <a:prstGeom prst="roundRect">
            <a:avLst>
              <a:gd name="adj" fmla="val 337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42006" y="1797557"/>
            <a:ext cx="476250" cy="1143000"/>
          </a:xfrm>
          <a:prstGeom prst="roundRect">
            <a:avLst>
              <a:gd name="adj" fmla="val 8000"/>
            </a:avLst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37244" y="2978657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937244" y="3098613"/>
            <a:ext cx="4857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300W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608756" y="1988057"/>
            <a:ext cx="476250" cy="952500"/>
          </a:xfrm>
          <a:prstGeom prst="roundRect">
            <a:avLst>
              <a:gd name="adj" fmla="val 8000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603994" y="2978657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V100S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5603994" y="3098613"/>
            <a:ext cx="4857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250W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275506" y="2654807"/>
            <a:ext cx="476250" cy="285750"/>
          </a:xfrm>
          <a:prstGeom prst="roundRect">
            <a:avLst>
              <a:gd name="adj" fmla="val 13333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70744" y="2978657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6270744" y="3098613"/>
            <a:ext cx="4857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799131" y="3462349"/>
            <a:ext cx="4095750" cy="3429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78958" y="3567124"/>
            <a:ext cx="4068699" cy="114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 Same throughput as $15,000 A100, at </a:t>
            </a:r>
            <a:r>
              <a:rPr lang="en-US" sz="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1/4 the power</a:t>
            </a: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, on a $5,000 FPGA.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81000" y="4044107"/>
            <a:ext cx="8382000" cy="285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95288" y="4044107"/>
            <a:ext cx="0" cy="2857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2925" y="4120307"/>
            <a:ext cx="824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 FPGA delivers GPU-level throughput at 1/4 the power — critical for sustainable deployment at scale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60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Comparison: Software vs Hardware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056531"/>
            <a:ext cx="8382000" cy="1127522"/>
          </a:xfrm>
          <a:prstGeom prst="roundRect">
            <a:avLst>
              <a:gd name="adj" fmla="val 5069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90525" y="1066056"/>
            <a:ext cx="8362950" cy="272355"/>
          </a:xfrm>
          <a:prstGeom prst="roundRect">
            <a:avLst>
              <a:gd name="adj" fmla="val 1748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90525" y="1142256"/>
            <a:ext cx="212101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9952" y="1142256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23432" y="1142256"/>
            <a:ext cx="2023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07609" y="1142256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30393" y="1142256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0525" y="1338411"/>
            <a:ext cx="8362950" cy="28188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0525" y="1615529"/>
            <a:ext cx="8362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390525" y="1414611"/>
            <a:ext cx="212101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9952" y="1414611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GPU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23432" y="1414611"/>
            <a:ext cx="2023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Dequantize at runtime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07609" y="1414611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0.65-1.7x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30393" y="1414611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0525" y="1897410"/>
            <a:ext cx="8362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390525" y="1696492"/>
            <a:ext cx="212101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 (ASIC)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9952" y="1696492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accelerator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23432" y="1696492"/>
            <a:ext cx="2023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quantization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07609" y="1696492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30393" y="1696492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0525" y="1902172"/>
            <a:ext cx="8362950" cy="272355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0525" y="1978372"/>
            <a:ext cx="212101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 (FPGA)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9952" y="1978372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Xilinx U280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23432" y="1978372"/>
            <a:ext cx="2023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Sparsity + on-chip mem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07609" y="1978372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1.2x vs A100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30393" y="1978372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1000" y="2450753"/>
            <a:ext cx="4124325" cy="1179016"/>
          </a:xfrm>
          <a:prstGeom prst="roundRect">
            <a:avLst>
              <a:gd name="adj" fmla="val 484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775" y="2555528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Software-Only Limitations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" y="2803178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Fixed hardware cannot adapt to outliers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1500" y="3075533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Dequantization overhead on every op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1500" y="3347889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Cannot exploit sparsity efficiently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38675" y="2450753"/>
            <a:ext cx="4124325" cy="1179016"/>
          </a:xfrm>
          <a:prstGeom prst="roundRect">
            <a:avLst>
              <a:gd name="adj" fmla="val 484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43450" y="2555528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Hardware-Assisted Advantages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29175" y="2803178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Native INT4/INT8 compute units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29175" y="3075533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Reconfigurable for different layers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29175" y="3347889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Memory architecture co-optimized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09197" y="3877418"/>
            <a:ext cx="8488971" cy="448419"/>
          </a:xfrm>
          <a:prstGeom prst="roundRect">
            <a:avLst>
              <a:gd name="adj" fmla="val 18750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8503" y="3963144"/>
            <a:ext cx="8496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 approaches are more accessible (standard GPUs), but hardware-assisted solutions deliver significantly better efficiency for production deployment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1000" y="4410819"/>
            <a:ext cx="8382000" cy="28575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395288" y="4410819"/>
            <a:ext cx="0" cy="285750"/>
          </a:xfrm>
          <a:prstGeom prst="line">
            <a:avLst/>
          </a:prstGeom>
          <a:noFill/>
          <a:ln w="2857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2925" y="4487019"/>
            <a:ext cx="824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 Co-design approach (algorithm + hardware together) consistently outperforms software-only solutions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477417"/>
            <a:ext cx="2705100" cy="962025"/>
          </a:xfrm>
          <a:prstGeom prst="roundRect">
            <a:avLst>
              <a:gd name="adj" fmla="val 594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4825" y="154849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0430" y="1579893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0575" y="1544723"/>
            <a:ext cx="13301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4825" y="1939744"/>
            <a:ext cx="25065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software quantization tools (bitsandbytes, llama.cpp) on local hardware to validate CipherCore findings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9450" y="1477417"/>
            <a:ext cx="2705100" cy="962025"/>
          </a:xfrm>
          <a:prstGeom prst="roundRect">
            <a:avLst>
              <a:gd name="adj" fmla="val 594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43275" y="154849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18880" y="1579893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29025" y="1544723"/>
            <a:ext cx="10096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Hardware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3275" y="1948536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newer accelerators: Groq LPU, AWS Inferentia, Google TPU — all natively support quantized inference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7900" y="1477417"/>
            <a:ext cx="2705100" cy="962025"/>
          </a:xfrm>
          <a:prstGeom prst="roundRect">
            <a:avLst>
              <a:gd name="adj" fmla="val 594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81725" y="154849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57330" y="1579893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67475" y="1562309"/>
            <a:ext cx="1100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1725" y="1957330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of ownership: GPU rental vs FPGA deployment vs custom ASICs at datacenter scale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000" y="2744241"/>
            <a:ext cx="8420862" cy="639217"/>
          </a:xfrm>
          <a:prstGeom prst="roundRect">
            <a:avLst>
              <a:gd name="adj" fmla="val 9773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4825" y="2841691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Additional Research Direction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825" y="3036645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Combine Oltron's adaptive quantization with FlightLLM's sparsity exploitation — could yield even greater efficiency gains by addressing both outliers and zeros simultaneously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1000" y="3604480"/>
            <a:ext cx="8420862" cy="718096"/>
          </a:xfrm>
          <a:prstGeom prst="roundRect">
            <a:avLst>
              <a:gd name="adj" fmla="val 7959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4825" y="3719512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4825" y="3905674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These hardware approaches exemplify the memory hierarchy optimization, dataflow architecture, and hardware-software co-design concepts from our Advanced Computer Architecture curriculum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418481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Key Takeaways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826121"/>
            <a:ext cx="2717750" cy="942974"/>
          </a:xfrm>
          <a:prstGeom prst="roundRect">
            <a:avLst>
              <a:gd name="adj" fmla="val 7229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4825" y="187961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7276" y="1913841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3249" y="1894162"/>
            <a:ext cx="8970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3617" y="2262072"/>
            <a:ext cx="25195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 is memory-bound. Custom hardware eliminates dequantization overhead that limits software approaches.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13050" y="1826120"/>
            <a:ext cx="2717750" cy="942975"/>
          </a:xfrm>
          <a:prstGeom prst="roundRect">
            <a:avLst>
              <a:gd name="adj" fmla="val 7229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6875" y="187961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653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19326" y="1913841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5299" y="1894162"/>
            <a:ext cx="8185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Wins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5667" y="2262072"/>
            <a:ext cx="25195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+ hardware designed together — Oltron's adaptive quant + reconfigurable PEs, FlightLLM's sparse DSPs.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45101" y="1826121"/>
            <a:ext cx="2717750" cy="942974"/>
          </a:xfrm>
          <a:prstGeom prst="roundRect">
            <a:avLst>
              <a:gd name="adj" fmla="val 7229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68926" y="187961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92400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51377" y="1913841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7350" y="1894162"/>
            <a:ext cx="7069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Key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7718" y="2262072"/>
            <a:ext cx="25195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FlightLLM's 6x efficiency shows why specialized accelerators matter for sustainable AI deployment at scale.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000" y="2937614"/>
            <a:ext cx="8382000" cy="855018"/>
          </a:xfrm>
          <a:prstGeom prst="roundRect">
            <a:avLst>
              <a:gd name="adj" fmla="val 668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3197" y="3070964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 to Remember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942443" y="3293760"/>
            <a:ext cx="7127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GB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8313" y="3560677"/>
            <a:ext cx="12157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 memory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97237" y="3293760"/>
            <a:ext cx="5314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82937" y="3552721"/>
            <a:ext cx="90660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 speedup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7759" y="3293760"/>
            <a:ext cx="6855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4327" y="3552721"/>
            <a:ext cx="11694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 efficiency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7581" y="3293760"/>
            <a:ext cx="4924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34489" y="3552721"/>
            <a:ext cx="840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300W GPU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1000" y="4024164"/>
            <a:ext cx="8382000" cy="329505"/>
          </a:xfrm>
          <a:prstGeom prst="roundRect">
            <a:avLst>
              <a:gd name="adj" fmla="val 17344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3875" y="4128939"/>
            <a:ext cx="82581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</a:t>
            </a: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Oltron (DAC 2024, Peking University) · FlightLLM (FPGA 2024, Tsinghua and SJTU) · CipherCore Benchmark Study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7502" y="1006822"/>
            <a:ext cx="31288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000500" y="1749772"/>
            <a:ext cx="1143000" cy="28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99457" y="2216496"/>
            <a:ext cx="3665112" cy="32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225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Hardware/Software Co-Design for LLM Quantization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48209" y="3182977"/>
            <a:ext cx="938736" cy="801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32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-589086" y="3488559"/>
            <a:ext cx="7471457" cy="32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 Speedup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53284" y="3182977"/>
            <a:ext cx="1196742" cy="801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32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0" y="3512839"/>
            <a:ext cx="9524946" cy="32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 Efficiency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86133" y="3182977"/>
            <a:ext cx="1167517" cy="801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320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020606" y="3494629"/>
            <a:ext cx="6756711" cy="32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300W GPU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0847" y="3989933"/>
            <a:ext cx="2162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0"/>
              </a:spcBef>
              <a:buNone/>
            </a:pPr>
            <a:r>
              <a:rPr lang="en-US" sz="8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Gyanendra Pandey – CECS 530</a:t>
            </a:r>
          </a:p>
          <a:p>
            <a:pPr marL="0" indent="0" algn="ctr">
              <a:lnSpc>
                <a:spcPts val="1155"/>
              </a:lnSpc>
              <a:spcBef>
                <a:spcPts val="3000"/>
              </a:spcBef>
              <a:buNone/>
            </a:pPr>
            <a:r>
              <a:rPr lang="en-US" sz="8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825" baseline="30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r>
              <a:rPr lang="en-US" sz="8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December 2025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094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1862</Words>
  <Application>Microsoft Macintosh PowerPoint</Application>
  <PresentationFormat>On-screen Show (16:9)</PresentationFormat>
  <Paragraphs>431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Hardware/Software Co-Design for LLM Quantization</dc:title>
  <dc:subject>CECS 528 - Advanced Computer Architecture</dc:subject>
  <dc:creator>Gyanu Pandey</dc:creator>
  <cp:lastModifiedBy>Gyanendra Pandey</cp:lastModifiedBy>
  <cp:revision>5</cp:revision>
  <dcterms:created xsi:type="dcterms:W3CDTF">2025-12-06T10:17:04Z</dcterms:created>
  <dcterms:modified xsi:type="dcterms:W3CDTF">2025-12-06T11:38:18Z</dcterms:modified>
</cp:coreProperties>
</file>