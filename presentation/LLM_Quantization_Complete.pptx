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8204" y="994470"/>
            <a:ext cx="588759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spcAft>
                <a:spcPts val="900"/>
              </a:spcAft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 Co-Design for</a:t>
            </a:r>
            <a:endParaRPr lang="en-US" sz="2850" dirty="0"/>
          </a:p>
          <a:p>
            <a:pPr algn="ctr" indent="0" marL="0">
              <a:lnSpc>
                <a:spcPts val="2850"/>
              </a:lnSpc>
              <a:spcAft>
                <a:spcPts val="900"/>
              </a:spcAft>
              <a:buNone/>
            </a:pPr>
            <a:r>
              <a:rPr lang="en-US" sz="2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Quantization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426090" y="1985070"/>
            <a:ext cx="42916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225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ASIC and FPGA Approaches for Efficient Inference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00500" y="2636490"/>
            <a:ext cx="11430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9433" y="3103215"/>
            <a:ext cx="9449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Gyanu Pandey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53617" y="3499396"/>
            <a:ext cx="24366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CECS 528 — Advanced Computer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729" y="4002286"/>
            <a:ext cx="7605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2024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02196"/>
            <a:ext cx="8382000" cy="592336"/>
          </a:xfrm>
          <a:prstGeom prst="roundRect">
            <a:avLst>
              <a:gd name="adj" fmla="val 9648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2925" y="1026021"/>
            <a:ext cx="821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are Transforming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2925" y="1224111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LLaMA, Claude — billions of parameters delivering unprecedented capabilities in text, code, and reasoning.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290786" y="1799332"/>
            <a:ext cx="1168003" cy="643830"/>
          </a:xfrm>
          <a:prstGeom prst="roundRect">
            <a:avLst>
              <a:gd name="adj" fmla="val 887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83132" y="1942207"/>
            <a:ext cx="7833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3132" y="2166938"/>
            <a:ext cx="7833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huge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73089" y="19878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77889" y="1799332"/>
            <a:ext cx="1217712" cy="643830"/>
          </a:xfrm>
          <a:prstGeom prst="roundRect">
            <a:avLst>
              <a:gd name="adj" fmla="val 887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69738" y="1942207"/>
            <a:ext cx="8340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Wall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9738" y="2166938"/>
            <a:ext cx="8340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140GB+ models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9901" y="19878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14701" y="1799332"/>
            <a:ext cx="1207591" cy="643830"/>
          </a:xfrm>
          <a:prstGeom prst="roundRect">
            <a:avLst>
              <a:gd name="adj" fmla="val 88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6651" y="1942207"/>
            <a:ext cx="8236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6651" y="2166938"/>
            <a:ext cx="8236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weights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36593" y="198789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1393" y="1799332"/>
            <a:ext cx="1711672" cy="643830"/>
          </a:xfrm>
          <a:prstGeom prst="roundRect">
            <a:avLst>
              <a:gd name="adj" fmla="val 8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8301" y="1942207"/>
            <a:ext cx="13378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Co-Design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28301" y="2166938"/>
            <a:ext cx="1337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inference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2747963"/>
            <a:ext cx="4114800" cy="1422946"/>
          </a:xfrm>
          <a:prstGeom prst="roundRect">
            <a:avLst>
              <a:gd name="adj" fmla="val 401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825" y="287178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04825" y="3094583"/>
            <a:ext cx="386715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too large for available memory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 consumption (300W/GPU)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cost at scale ($700K/day)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8200" y="2747963"/>
            <a:ext cx="4114800" cy="1422946"/>
          </a:xfrm>
          <a:prstGeom prst="roundRect">
            <a:avLst>
              <a:gd name="adj" fmla="val 401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2025" y="287178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72025" y="3094583"/>
            <a:ext cx="386715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reduces memory 2-4×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hardware eliminates overhead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achieves both goals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1000" y="445665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875" y="456143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analyze how hardware-software co-design approaches (Oltron, FlightLLM) outperform software-only quantization methods.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147018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Efficient LLM Deployment Matters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94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94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day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194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inference cost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385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69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769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GPU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3769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power consumption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96000" y="1606004"/>
            <a:ext cx="2667000" cy="1125736"/>
          </a:xfrm>
          <a:prstGeom prst="roundRect">
            <a:avLst>
              <a:gd name="adj" fmla="val 507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34494" y="1767929"/>
            <a:ext cx="239001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140GB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34494" y="2251770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234494" y="2436465"/>
            <a:ext cx="2390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 in FP16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4825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Datacenter Impact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04825" y="3402211"/>
            <a:ext cx="2493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GPUs running 24/7. Power costs dominate operating expenses. Every efficiency gain multiplies across the fleet.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225850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49675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Gap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349675" y="3402211"/>
            <a:ext cx="24936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GPUs have 8-24GB. Most LLMs don't fit. Quantization + hardware co-design can democratize access.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70699" y="3055590"/>
            <a:ext cx="2692450" cy="870496"/>
          </a:xfrm>
          <a:prstGeom prst="roundRect">
            <a:avLst>
              <a:gd name="adj" fmla="val 656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4524" y="3179415"/>
            <a:ext cx="24936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94524" y="3402211"/>
            <a:ext cx="2493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training and inference consume significant energy. Efficient deployment reduces carbon footprint at scale.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1000" y="4211836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3875" y="4316611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need efficient deployment — not just accurate models. Hardware-software co-design addresses both.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Memory Wall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97180" y="1028849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</a:t>
            </a:r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memory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7180" y="1352699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laptop has 16 GB. Our GPU has 24 GB. The model doesn't fit.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76933" y="1920329"/>
            <a:ext cx="4353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104602" y="2131665"/>
            <a:ext cx="571500" cy="1524000"/>
          </a:xfrm>
          <a:prstGeom prst="roundRect">
            <a:avLst>
              <a:gd name="adj" fmla="val 5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02221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276499" y="3878461"/>
            <a:ext cx="232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78372" y="268232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GB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871514" y="2893665"/>
            <a:ext cx="571500" cy="762000"/>
          </a:xfrm>
          <a:prstGeom prst="roundRect">
            <a:avLst>
              <a:gd name="adj" fmla="val 5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69132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054126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5284" y="306332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GB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38425" y="3274665"/>
            <a:ext cx="571500" cy="381000"/>
          </a:xfrm>
          <a:prstGeom prst="roundRect">
            <a:avLst>
              <a:gd name="adj" fmla="val 75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36044" y="369376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21037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9155" y="2297311"/>
            <a:ext cx="9525" cy="1714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62090" y="3187154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GB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3755380" y="3398490"/>
            <a:ext cx="571500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05237" y="3693765"/>
            <a:ext cx="481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937843" y="3878461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24090" y="3272879"/>
            <a:ext cx="3650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GB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517380" y="3484215"/>
            <a:ext cx="57150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180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8406" y="3693765"/>
            <a:ext cx="3562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97164" y="3878461"/>
            <a:ext cx="2160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96000" y="2096542"/>
            <a:ext cx="2667000" cy="1739057"/>
          </a:xfrm>
          <a:prstGeom prst="roundRect">
            <a:avLst>
              <a:gd name="adj" fmla="val 3286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57925" y="2258467"/>
            <a:ext cx="2390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Quantization Helps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7925" y="2532757"/>
            <a:ext cx="2390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→ INT8: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2× smaller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57925" y="2875657"/>
            <a:ext cx="2390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→ INT4: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4× smaller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57925" y="3261420"/>
            <a:ext cx="2343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7925" y="3380482"/>
            <a:ext cx="239001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Naive quantization breaks model accuracy!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316611"/>
            <a:ext cx="8382000" cy="35049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95288" y="4316611"/>
            <a:ext cx="0" cy="35049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975" y="4411861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Quantization reduces precision to shrink model size — but we need smart approaches to maintain accuracy.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Quantization?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69764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numerical precision of model weights and activations to decrease memory and computation.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285851" y="1447800"/>
            <a:ext cx="990749" cy="274290"/>
          </a:xfrm>
          <a:prstGeom prst="roundRect">
            <a:avLst>
              <a:gd name="adj" fmla="val 1389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38251" y="1504950"/>
            <a:ext cx="6996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(32-bit)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62175" y="1931640"/>
            <a:ext cx="1238250" cy="634305"/>
          </a:xfrm>
          <a:prstGeom prst="roundRect">
            <a:avLst>
              <a:gd name="adj" fmla="val 600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66950" y="2036415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3.14159265...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2669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3145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6220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0982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574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050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5270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032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479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955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56663" y="2341215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bits per value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598539" y="2756446"/>
            <a:ext cx="372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590925" y="2048768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21051" y="1447800"/>
            <a:ext cx="901750" cy="274290"/>
          </a:xfrm>
          <a:prstGeom prst="roundRect">
            <a:avLst>
              <a:gd name="adj" fmla="val 1389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273451" y="1504950"/>
            <a:ext cx="6088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(8-bit)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52875" y="1931640"/>
            <a:ext cx="1238250" cy="634305"/>
          </a:xfrm>
          <a:prstGeom prst="roundRect">
            <a:avLst>
              <a:gd name="adj" fmla="val 600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57650" y="2036415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A556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(integer)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0576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052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15290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0052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481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957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47363" y="2341215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 per value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337596" y="2756446"/>
            <a:ext cx="478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 smaller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81625" y="2048768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911751" y="1447800"/>
            <a:ext cx="901750" cy="274290"/>
          </a:xfrm>
          <a:prstGeom prst="roundRect">
            <a:avLst>
              <a:gd name="adj" fmla="val 1389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64151" y="1504950"/>
            <a:ext cx="6088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(4-bit)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43575" y="1931640"/>
            <a:ext cx="1238250" cy="634305"/>
          </a:xfrm>
          <a:prstGeom prst="roundRect">
            <a:avLst>
              <a:gd name="adj" fmla="val 6007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48350" y="2036415"/>
            <a:ext cx="10492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2B6CB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(integer)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84835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63B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895975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63B3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43600" y="2207865"/>
            <a:ext cx="28575" cy="95250"/>
          </a:xfrm>
          <a:prstGeom prst="roundRect">
            <a:avLst>
              <a:gd name="adj" fmla="val 33333"/>
            </a:avLst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38063" y="2341215"/>
            <a:ext cx="104927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bits per value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6128296" y="2756446"/>
            <a:ext cx="478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smaller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686050" y="3308896"/>
            <a:ext cx="1809750" cy="870496"/>
          </a:xfrm>
          <a:prstGeom prst="roundRect">
            <a:avLst>
              <a:gd name="adj" fmla="val 656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828925" y="3413671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2828925" y="36174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model size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828925" y="37698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inference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828925" y="39222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power usage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48200" y="3308896"/>
            <a:ext cx="1809750" cy="870496"/>
          </a:xfrm>
          <a:prstGeom prst="roundRect">
            <a:avLst>
              <a:gd name="adj" fmla="val 656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91075" y="3413671"/>
            <a:ext cx="1554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4791075" y="36174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loss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91075" y="37698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sensitivity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91075" y="392221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degradation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81000" y="4446091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95288" y="4446091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2925" y="4522291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tradeoff: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precision means smaller size, but we risk losing accuracy if not done carefully.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88624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Hardware Matters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46857"/>
            <a:ext cx="8382000" cy="382786"/>
          </a:xfrm>
          <a:prstGeom prst="roundRect">
            <a:avLst>
              <a:gd name="adj" fmla="val 14930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2925" y="1151632"/>
            <a:ext cx="82193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inference is </a:t>
            </a:r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memory-bound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compute-bound. The GPU sits idle waiting for data.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715393"/>
            <a:ext cx="4076700" cy="1619101"/>
          </a:xfrm>
          <a:prstGeom prst="roundRect">
            <a:avLst>
              <a:gd name="adj" fmla="val 353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5965" y="185826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Architecture Bottleneck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7526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812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098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84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670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95600" y="2100114"/>
            <a:ext cx="190500" cy="190500"/>
          </a:xfrm>
          <a:prstGeom prst="roundRect">
            <a:avLst>
              <a:gd name="adj" fmla="val 10000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965" y="2366814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GPU Cores (mostly idle)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1998613" y="2582019"/>
            <a:ext cx="841474" cy="228600"/>
          </a:xfrm>
          <a:prstGeom prst="roundRect">
            <a:avLst>
              <a:gd name="adj" fmla="val 16667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87353" y="2629644"/>
            <a:ext cx="6639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21210" y="2943969"/>
            <a:ext cx="1196280" cy="247650"/>
          </a:xfrm>
          <a:prstGeom prst="roundRect">
            <a:avLst>
              <a:gd name="adj" fmla="val 15385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03557" y="3001119"/>
            <a:ext cx="831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342974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GPU Specs: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1000" y="3725019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312 TFLOPS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1000" y="4020294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BW: 2 TB/s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1000" y="4315569"/>
            <a:ext cx="41582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LLaMA-70B:</a:t>
            </a:r>
            <a:pPr algn="l" indent="0" marL="0">
              <a:lnSpc>
                <a:spcPts val="2100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5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140GB per token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86300" y="1715393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Quantization Helps (But Not Enough)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1970633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1075" y="2075408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memory traffic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91075" y="2250579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weights = faster transfer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6300" y="2564904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1075" y="2669679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overhead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91075" y="284485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Dequantization at runtime costs cycles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86300" y="3159175"/>
            <a:ext cx="4076700" cy="518071"/>
          </a:xfrm>
          <a:prstGeom prst="roundRect">
            <a:avLst>
              <a:gd name="adj" fmla="val 110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1075" y="326395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GPU architecture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791075" y="3439120"/>
            <a:ext cx="3944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adapt to outlier patterns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86300" y="3753445"/>
            <a:ext cx="40767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91075" y="3858220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Custom hardware for quantized inference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849809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 like </a:t>
            </a:r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</a:t>
            </a:r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us run quantized models on standard GPUs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276499"/>
            <a:ext cx="8382000" cy="914251"/>
          </a:xfrm>
          <a:prstGeom prst="roundRect">
            <a:avLst>
              <a:gd name="adj" fmla="val 625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3482" y="1400324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Software Quantization Works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889052" y="1623120"/>
            <a:ext cx="770037" cy="234255"/>
          </a:xfrm>
          <a:prstGeom prst="roundRect">
            <a:avLst>
              <a:gd name="adj" fmla="val 24396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97937" y="1680270"/>
            <a:ext cx="5522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Weights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735288" y="166017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25788" y="1623120"/>
            <a:ext cx="685949" cy="234255"/>
          </a:xfrm>
          <a:prstGeom prst="roundRect">
            <a:avLst>
              <a:gd name="adj" fmla="val 24396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5515" y="1680270"/>
            <a:ext cx="4664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87937" y="166017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78437" y="1623120"/>
            <a:ext cx="600075" cy="234255"/>
          </a:xfrm>
          <a:prstGeom prst="roundRect">
            <a:avLst>
              <a:gd name="adj" fmla="val 24396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89022" y="1680270"/>
            <a:ext cx="3789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554712" y="1660178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45212" y="1623120"/>
            <a:ext cx="509587" cy="234255"/>
          </a:xfrm>
          <a:prstGeom prst="roundRect">
            <a:avLst>
              <a:gd name="adj" fmla="val 24396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6702" y="1680270"/>
            <a:ext cx="2866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23482" y="1933575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</a:t>
            </a:r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 is overhead — GPU converts before every operation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2457450"/>
            <a:ext cx="4238625" cy="1861096"/>
          </a:xfrm>
          <a:prstGeom prst="roundRect">
            <a:avLst>
              <a:gd name="adj" fmla="val 307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825" y="2581275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Frameworks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4825" y="280407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0550" y="288979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 Dettmers, INT8/INT4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4825" y="316602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0550" y="325174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Microsoft, optimized INT8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4825" y="352797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0550" y="361369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Georgi Gerganov, CPU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4825" y="3889921"/>
            <a:ext cx="3990975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0550" y="3975646"/>
            <a:ext cx="3895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GPTQ: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Post-training quantization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457450"/>
            <a:ext cx="40707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Limitation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72025" y="2680246"/>
            <a:ext cx="3990975" cy="647700"/>
          </a:xfrm>
          <a:prstGeom prst="roundRect">
            <a:avLst>
              <a:gd name="adj" fmla="val 882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95850" y="2804071"/>
            <a:ext cx="38181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hardware is designed for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floating-point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operations. We store as INT8, but must convert back to FP16 for every computation. This overhead can exceed the memory savings!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1000" y="4566196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95288" y="4566196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925" y="4642396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approaches work, but cannot fully exploit quantization because the hardware is not designed for it.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 Limitations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792807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878532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Surprising finding: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Quantization does not always speed things up — it depends on the implementation!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358503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CipherCore Benchmark Results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1714649"/>
            <a:ext cx="838200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25" y="1724174"/>
            <a:ext cx="836295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0525" y="1781324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139255" y="178132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792736" y="178132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446216" y="178132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7099697" y="1781324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75" dirty="0"/>
          </a:p>
        </p:txBody>
      </p:sp>
      <p:sp>
        <p:nvSpPr>
          <p:cNvPr id="13" name="Shape 11"/>
          <p:cNvSpPr/>
          <p:nvPr/>
        </p:nvSpPr>
        <p:spPr>
          <a:xfrm>
            <a:off x="390525" y="2197447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525" y="2015579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139255" y="201557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792736" y="201557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446216" y="201557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0.65x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7099697" y="2015579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SLOWER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390525" y="2441228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0525" y="2259360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Runtime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139255" y="225936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792736" y="225936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446216" y="225936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1.7x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7099697" y="225936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speedup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90525" y="2503140"/>
            <a:ext cx="178370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139255" y="25031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792736" y="25031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446216" y="25031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0.3x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7099697" y="2503140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limited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1000" y="2918371"/>
            <a:ext cx="4114800" cy="1527572"/>
          </a:xfrm>
          <a:prstGeom prst="roundRect">
            <a:avLst>
              <a:gd name="adj" fmla="val 374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775" y="3023146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Slowdown?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5775" y="3213646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1500" y="3280321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Dequantization overhead on every operation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85775" y="3505051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500" y="3571726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 patterns not optimized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85775" y="3796457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1500" y="3863132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cores designed for FP, not INT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85775" y="4087862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1500" y="4154537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can exceed memory savings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48200" y="2918371"/>
            <a:ext cx="4114800" cy="1527572"/>
          </a:xfrm>
          <a:prstGeom prst="roundRect">
            <a:avLst>
              <a:gd name="adj" fmla="val 37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52975" y="3023146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2975" y="3213646"/>
            <a:ext cx="3983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runs on </a:t>
            </a:r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hardware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matter how clever our code, we are limited by what the GPU can physically do. We need hardware designed for quantized operations.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381000" y="4655493"/>
            <a:ext cx="8382000" cy="2476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395288" y="4655493"/>
            <a:ext cx="0" cy="2476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2925" y="4712643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Software-only approaches cannot fully exploit quantization — the hardware is not designed for it.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Focus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84995"/>
            <a:ext cx="8382000" cy="439936"/>
          </a:xfrm>
          <a:prstGeom prst="roundRect">
            <a:avLst>
              <a:gd name="adj" fmla="val 12991"/>
            </a:avLst>
          </a:prstGeom>
          <a:solidFill>
            <a:srgbClr val="EFF6FF"/>
          </a:solidFill>
          <a:ln w="19050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3197" y="1518345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hardware-assisted quantization approaches compare to software-only methods in terms of performance and energy efficiency?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07258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Approaches Compared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725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bitsandbytes, ONNX, llama.cpp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13050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8775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(ASIC)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98775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2024, Peking University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5101" y="2415480"/>
            <a:ext cx="2717750" cy="600075"/>
          </a:xfrm>
          <a:prstGeom prst="roundRect">
            <a:avLst>
              <a:gd name="adj" fmla="val 9524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30826" y="2501205"/>
            <a:ext cx="25972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(FPGA)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30826" y="2663130"/>
            <a:ext cx="2546300" cy="2667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2024, Tsinghua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81000" y="3263205"/>
            <a:ext cx="2797225" cy="876300"/>
          </a:xfrm>
          <a:prstGeom prst="roundRect">
            <a:avLst>
              <a:gd name="adj" fmla="val 6522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725" y="3348930"/>
            <a:ext cx="2678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6725" y="3520380"/>
            <a:ext cx="2625775" cy="5334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Throughput, Energy efficiency, Accuracy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2525" y="3263205"/>
            <a:ext cx="5470475" cy="8763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6812" y="3263205"/>
            <a:ext cx="0" cy="87630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6350" y="3339405"/>
            <a:ext cx="53564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16350" y="3510855"/>
            <a:ext cx="535642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Hardware-assisted approaches will outperform software by eliminating dequantization overhead.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824317" y="478155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ASIC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963067"/>
            <a:ext cx="8382000" cy="521940"/>
          </a:xfrm>
          <a:prstGeom prst="roundRect">
            <a:avLst>
              <a:gd name="adj" fmla="val 109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067842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Algorithm-Hardware Co-design for Outlier-Aware Quantization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3875" y="1246882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2024 · Peking University · Custom ASIC Accelerator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770757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Outlier Problem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191643"/>
            <a:ext cx="4219575" cy="1295400"/>
          </a:xfrm>
          <a:prstGeom prst="roundRect">
            <a:avLst>
              <a:gd name="adj" fmla="val 4412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5106" y="2315468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Value Distribution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00238" y="3048893"/>
            <a:ext cx="95250" cy="142875"/>
          </a:xfrm>
          <a:prstGeom prst="roundRect">
            <a:avLst>
              <a:gd name="adj" fmla="val 20000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24062" y="2906018"/>
            <a:ext cx="95250" cy="285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7888" y="2667893"/>
            <a:ext cx="95250" cy="523875"/>
          </a:xfrm>
          <a:prstGeom prst="roundRect">
            <a:avLst>
              <a:gd name="adj" fmla="val 2000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71713" y="2525018"/>
            <a:ext cx="95250" cy="666750"/>
          </a:xfrm>
          <a:prstGeom prst="roundRect">
            <a:avLst>
              <a:gd name="adj" fmla="val 20000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95538" y="2667893"/>
            <a:ext cx="95250" cy="523875"/>
          </a:xfrm>
          <a:prstGeom prst="roundRect">
            <a:avLst>
              <a:gd name="adj" fmla="val 2000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9363" y="2906018"/>
            <a:ext cx="95250" cy="285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43188" y="3048893"/>
            <a:ext cx="95250" cy="142875"/>
          </a:xfrm>
          <a:prstGeom prst="roundRect">
            <a:avLst>
              <a:gd name="adj" fmla="val 20000"/>
            </a:avLst>
          </a:prstGeom>
          <a:solidFill>
            <a:srgbClr val="A0AE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86088" y="2715518"/>
            <a:ext cx="95250" cy="476250"/>
          </a:xfrm>
          <a:prstGeom prst="roundRect">
            <a:avLst>
              <a:gd name="adj" fmla="val 20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1075" y="2191643"/>
            <a:ext cx="3971925" cy="500955"/>
          </a:xfrm>
          <a:prstGeom prst="roundRect">
            <a:avLst>
              <a:gd name="adj" fmla="val 114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5850" y="2296418"/>
            <a:ext cx="3837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for normal values?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95850" y="246786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0.5 → 64 ✓ | Outlier 100 → OVERFLOW! ✗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791075" y="2768798"/>
            <a:ext cx="3971925" cy="500955"/>
          </a:xfrm>
          <a:prstGeom prst="roundRect">
            <a:avLst>
              <a:gd name="adj" fmla="val 11408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95850" y="2873573"/>
            <a:ext cx="3837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for outliers?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95850" y="30450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100 → 127 ✓ | Normal 0.5 → rounds to 1 ✗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1000" y="3772793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3875" y="3877568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Oltron's insight: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Outliers aren't random — they cluster in specific channels, and patterns vary by layer. Design hardware that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each layer's outlier distribution.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376589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3875" y="4481364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 finds optimal outlier ratio per layer → Reconfigurable hardware adapts accordingly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Key Innovations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24494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Innovations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48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482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each layer's outlier distribution. Allocate INT4 vs FP16 precision per-channel based on sensitivity.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482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82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2% FP16 | Layer 5: 15% FP16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21945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4327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4327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Reconfigurable PEs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4327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elements dynamically switch between INT4 and FP16 operations at runtime.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4327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327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adapts to each layer's needs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579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2B6C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17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817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Tile-Based Dataflow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72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Reorganize memory access patterns to maximize data reuse and minimize bandwidth requirements.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8172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72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memory bottleneck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318030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3875" y="328508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Principle: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Algorithm determines optimal outlier ratio → Hardware reconfigures to match → Both work together for maximum efficiency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3803154"/>
            <a:ext cx="8382000" cy="666750"/>
          </a:xfrm>
          <a:prstGeom prst="roundRect">
            <a:avLst>
              <a:gd name="adj" fmla="val 8571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30022" y="3917454"/>
            <a:ext cx="38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0022" y="4222254"/>
            <a:ext cx="3890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88941" y="3917454"/>
            <a:ext cx="748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88941" y="4222254"/>
            <a:ext cx="7488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05258" y="3917454"/>
            <a:ext cx="6318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5258" y="4222254"/>
            <a:ext cx="631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Loss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05892" y="3917454"/>
            <a:ext cx="610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12nm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705892" y="4222254"/>
            <a:ext cx="61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Node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778329" y="4781550"/>
            <a:ext cx="100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Oltron: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99443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vs OliVe (Previous Best)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735634"/>
            <a:ext cx="407670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745159"/>
            <a:ext cx="405765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802309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63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4669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457575" y="1802309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90525" y="2218432"/>
            <a:ext cx="405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525" y="2036564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4763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4669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457575" y="2036564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 faster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90525" y="2462212"/>
            <a:ext cx="40576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525" y="2280345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4763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4669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457575" y="228034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 better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0525" y="2524125"/>
            <a:ext cx="1107567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Loss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14763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24669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1%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457575" y="2524125"/>
            <a:ext cx="1010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Maintained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1000" y="2825055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3028801"/>
            <a:ext cx="4076700" cy="563761"/>
          </a:xfrm>
          <a:prstGeom prst="roundRect">
            <a:avLst>
              <a:gd name="adj" fmla="val 1013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725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2224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22224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12nm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793825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49325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849325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MHz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120926" y="3114526"/>
            <a:ext cx="1250900" cy="392311"/>
          </a:xfrm>
          <a:prstGeom prst="roundRect">
            <a:avLst>
              <a:gd name="adj" fmla="val 971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176425" y="3181201"/>
            <a:ext cx="11399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3176425" y="3306812"/>
            <a:ext cx="11399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LLaMA, OPT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86300" y="1499443"/>
            <a:ext cx="41582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Results?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86300" y="1722239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72025" y="1807964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72025" y="1960364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optimized individually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4686300" y="2223195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72025" y="230892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Flexibility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72025" y="2461320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wasted compute cycles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686300" y="2724150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72025" y="2809875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Efficiency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2025" y="2962275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Tile-based layout reduces overhead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4686300" y="3225105"/>
            <a:ext cx="4076700" cy="443805"/>
          </a:xfrm>
          <a:prstGeom prst="roundRect">
            <a:avLst>
              <a:gd name="adj" fmla="val 1287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2025" y="3310830"/>
            <a:ext cx="39833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Synergy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72025" y="3463230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+ hardware working together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81000" y="3916561"/>
            <a:ext cx="8382000" cy="298996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95288" y="3916561"/>
            <a:ext cx="0" cy="298996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2925" y="3992761"/>
            <a:ext cx="82484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1.9x speedup and 1.6x energy efficiency with less than 1% accuracy loss — the power of co-design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FPGA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11734"/>
            <a:ext cx="8382000" cy="521940"/>
          </a:xfrm>
          <a:prstGeom prst="roundRect">
            <a:avLst>
              <a:gd name="adj" fmla="val 109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116509"/>
            <a:ext cx="82581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Large Language Model Inference with a Complete Mapping Flow on FPGAs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3875" y="1295549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2024 · Tsinghua and Shanghai Jiao Tong University · Xilinx U280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1000" y="1800374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FPGA?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188964"/>
            <a:ext cx="4114800" cy="1249412"/>
          </a:xfrm>
          <a:prstGeom prst="roundRect">
            <a:avLst>
              <a:gd name="adj" fmla="val 457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5775" y="229373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Limitations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5775" y="2497485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50" y="2564160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architecture: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skip zero computations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85775" y="2788890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450" y="285556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bottleneck: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fetch from DRAM every token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85775" y="3080296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2450" y="3146971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power: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A100 draws 300-400W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8200" y="2188964"/>
            <a:ext cx="4114800" cy="1249412"/>
          </a:xfrm>
          <a:prstGeom prst="roundRect">
            <a:avLst>
              <a:gd name="adj" fmla="val 4574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52975" y="2293739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Advantages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52975" y="2497485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9650" y="2564160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Reconfigurable fabric: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custom compute paths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52975" y="2788890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285556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On-chip SRAM: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100x faster than DRAM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752975" y="3080296"/>
            <a:ext cx="3905250" cy="253305"/>
          </a:xfrm>
          <a:prstGeom prst="roundRect">
            <a:avLst>
              <a:gd name="adj" fmla="val 15041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9650" y="3146971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power: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Around 75W for similar work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1000" y="3705076"/>
            <a:ext cx="8382000" cy="502741"/>
          </a:xfrm>
          <a:prstGeom prst="roundRect">
            <a:avLst>
              <a:gd name="adj" fmla="val 11368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775" y="3809851"/>
            <a:ext cx="8335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insight: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FPGA architecture specifically for sparse, quantized LLM inference — exploit sparsity, keep data on-chip, compile once and run any sequence length.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436418"/>
            <a:ext cx="8382000" cy="285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95288" y="4436418"/>
            <a:ext cx="0" cy="2857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925" y="4512618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Efficient decode phase — the bottleneck in real LLM serving (one token at a time)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Key Innovations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244947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Innovations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48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Sparse DSP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482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DSP units that detect and skip zero-value computations entirely. No wasted cycles.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482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82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1.6× compute efficiency gain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21945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4327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4327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Always-On-Chip Decode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4327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stored entirely in fast SRAM instead of slow DRAM. Eliminates memory bottleneck.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4327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327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 faster memory access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57900" y="1671638"/>
            <a:ext cx="2705100" cy="1222921"/>
          </a:xfrm>
          <a:prstGeom prst="roundRect">
            <a:avLst>
              <a:gd name="adj" fmla="val 4673"/>
            </a:avLst>
          </a:prstGeom>
          <a:solidFill>
            <a:srgbClr val="F7FAFC"/>
          </a:solidFill>
          <a:ln w="9525">
            <a:solidFill>
              <a:srgbClr val="16653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81725" y="1795463"/>
            <a:ext cx="25065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81725" y="1985963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Length-Adaptive Compile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725" y="2203103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compilation works for any sequence length. No recompilation needed for different inputs.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81725" y="2569815"/>
            <a:ext cx="2457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725" y="2650778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128 to 2048+ tokens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3180308"/>
            <a:ext cx="8382000" cy="356146"/>
          </a:xfrm>
          <a:prstGeom prst="roundRect">
            <a:avLst>
              <a:gd name="adj" fmla="val 160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3875" y="3285083"/>
            <a:ext cx="82581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Advantage: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Reconfigurable fabric enables sparsity exploitation + on-chip memory optimization — impossible on fixed GPU architecture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3803154"/>
            <a:ext cx="8382000" cy="666750"/>
          </a:xfrm>
          <a:prstGeom prst="roundRect">
            <a:avLst>
              <a:gd name="adj" fmla="val 8571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00288" y="3917454"/>
            <a:ext cx="7488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00288" y="4222254"/>
            <a:ext cx="7488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14291" y="3917454"/>
            <a:ext cx="867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814291" y="4222254"/>
            <a:ext cx="8678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A100 Throughput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49461" y="3917454"/>
            <a:ext cx="5291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49461" y="4222254"/>
            <a:ext cx="5291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Draw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49645" y="3917454"/>
            <a:ext cx="491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949645" y="4222254"/>
            <a:ext cx="49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AE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FlightLLM: Results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23095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645890"/>
            <a:ext cx="4095750" cy="975122"/>
          </a:xfrm>
          <a:prstGeom prst="roundRect">
            <a:avLst>
              <a:gd name="adj" fmla="val 586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655415"/>
            <a:ext cx="4076700" cy="234255"/>
          </a:xfrm>
          <a:prstGeom prst="roundRect">
            <a:avLst>
              <a:gd name="adj" fmla="val 2033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712565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66850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466975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467100" y="1712565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Eff.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390525" y="2128689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525" y="1946821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V100S GPU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466850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250W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466975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 (baseline)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467100" y="194682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1.0x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90525" y="2372469"/>
            <a:ext cx="40767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525" y="2190601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GPU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466850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466975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1.1x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467100" y="2190601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0.9x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0525" y="2377232"/>
            <a:ext cx="4076700" cy="234255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0525" y="2434382"/>
            <a:ext cx="1097851" cy="11995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1466850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466975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1.2x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467100" y="2434382"/>
            <a:ext cx="10201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 better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1000" y="2716262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2920008"/>
            <a:ext cx="4095750" cy="550366"/>
          </a:xfrm>
          <a:prstGeom prst="roundRect">
            <a:avLst>
              <a:gd name="adj" fmla="val 10384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6725" y="3005733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2034" y="3072408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2034" y="3198019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1793825" y="3005733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49134" y="3072408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849134" y="3198019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8GB HBM2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120926" y="3005733"/>
            <a:ext cx="1269950" cy="378916"/>
          </a:xfrm>
          <a:prstGeom prst="roundRect">
            <a:avLst>
              <a:gd name="adj" fmla="val 1005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176235" y="3072408"/>
            <a:ext cx="115933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176235" y="3198019"/>
            <a:ext cx="11593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LLaMA-7B INT4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667250" y="1423095"/>
            <a:ext cx="41776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Comparison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667250" y="1645890"/>
            <a:ext cx="4095750" cy="1693366"/>
          </a:xfrm>
          <a:prstGeom prst="roundRect">
            <a:avLst>
              <a:gd name="adj" fmla="val 337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10125" y="1788765"/>
            <a:ext cx="476250" cy="1143000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5363" y="2969865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805363" y="3089821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300W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476875" y="1979265"/>
            <a:ext cx="476250" cy="952500"/>
          </a:xfrm>
          <a:prstGeom prst="roundRect">
            <a:avLst>
              <a:gd name="adj" fmla="val 8000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72113" y="2969865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V100S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5472113" y="3089821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250W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143625" y="2646015"/>
            <a:ext cx="476250" cy="285750"/>
          </a:xfrm>
          <a:prstGeom prst="roundRect">
            <a:avLst>
              <a:gd name="adj" fmla="val 13333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38863" y="2969865"/>
            <a:ext cx="4857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138863" y="3089821"/>
            <a:ext cx="48577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667250" y="3453557"/>
            <a:ext cx="4095750" cy="3429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2025" y="3558332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throughput as $15,000 A100, at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 the power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 a $5,000 FPGA.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1000" y="4044107"/>
            <a:ext cx="8382000" cy="28575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395288" y="4044107"/>
            <a:ext cx="0" cy="285750"/>
          </a:xfrm>
          <a:prstGeom prst="line">
            <a:avLst/>
          </a:prstGeom>
          <a:noFill/>
          <a:ln w="28575">
            <a:solidFill>
              <a:srgbClr val="1A36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2925" y="4120307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FPGA delivers GPU-level throughput at 1/4 the power — critical for sustainable deployment at scale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60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Comparison: Software vs Hardware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056531"/>
            <a:ext cx="8382000" cy="1127522"/>
          </a:xfrm>
          <a:prstGeom prst="roundRect">
            <a:avLst>
              <a:gd name="adj" fmla="val 5069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1066056"/>
            <a:ext cx="8362950" cy="272355"/>
          </a:xfrm>
          <a:prstGeom prst="roundRect">
            <a:avLst>
              <a:gd name="adj" fmla="val 1748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142256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2469952" y="1142256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123432" y="1142256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6107609" y="1142256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7430393" y="1142256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90525" y="1338411"/>
            <a:ext cx="8362950" cy="28188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0525" y="1615529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525" y="1414611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469952" y="1414611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GPU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123432" y="1414611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Dequantize at runtime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107609" y="1414611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0.65-1.7x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7430393" y="1414611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 baseline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90525" y="1897410"/>
            <a:ext cx="83629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525" y="1696492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(ASIC)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469952" y="1696492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accelerator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123432" y="1696492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quantization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107609" y="169649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7430393" y="169649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90525" y="1902172"/>
            <a:ext cx="8362950" cy="272355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0525" y="1978372"/>
            <a:ext cx="2121015" cy="1199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(FPGA)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469952" y="1978372"/>
            <a:ext cx="1686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U280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123432" y="1978372"/>
            <a:ext cx="202386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 + on-chip mem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107609" y="197837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1.2x vs A100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7430393" y="1978372"/>
            <a:ext cx="13492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1000" y="2450753"/>
            <a:ext cx="4124325" cy="1179016"/>
          </a:xfrm>
          <a:prstGeom prst="roundRect">
            <a:avLst>
              <a:gd name="adj" fmla="val 484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5775" y="2555528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Software-Only Limitations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5775" y="2746028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1500" y="2803178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hardware cannot adapt to outliers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85775" y="3018383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1500" y="3075533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Dequantization overhead on every op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85775" y="3290739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1500" y="3347889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exploit sparsity efficiently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38675" y="2450753"/>
            <a:ext cx="4124325" cy="1179016"/>
          </a:xfrm>
          <a:prstGeom prst="roundRect">
            <a:avLst>
              <a:gd name="adj" fmla="val 4847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43450" y="2555528"/>
            <a:ext cx="39930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Hardware-Assisted Advantages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43450" y="2746028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29175" y="2803178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INT4/INT8 compute units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4743450" y="3018383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29175" y="3075533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Reconfigurable for different layers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4743450" y="3290739"/>
            <a:ext cx="3914775" cy="234255"/>
          </a:xfrm>
          <a:prstGeom prst="roundRect">
            <a:avLst>
              <a:gd name="adj" fmla="val 16264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29175" y="3347889"/>
            <a:ext cx="381819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architecture co-optimized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381000" y="3877419"/>
            <a:ext cx="8382000" cy="304800"/>
          </a:xfrm>
          <a:prstGeom prst="roundRect">
            <a:avLst>
              <a:gd name="adj" fmla="val 18750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3875" y="3963144"/>
            <a:ext cx="8258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 approaches are more accessible (standard GPUs), but hardware-assisted solutions deliver significantly better efficiency for production deployment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81000" y="4410819"/>
            <a:ext cx="8382000" cy="28575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395288" y="4410819"/>
            <a:ext cx="0" cy="285750"/>
          </a:xfrm>
          <a:prstGeom prst="line">
            <a:avLst/>
          </a:prstGeom>
          <a:noFill/>
          <a:ln w="28575">
            <a:solidFill>
              <a:srgbClr val="2B6C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2925" y="4487019"/>
            <a:ext cx="82484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Co-design approach (algorithm + hardware together) consistently outperforms software-only solutions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4825" y="1601242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0430" y="1632645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790575" y="1632645"/>
            <a:ext cx="13301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Implementation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04825" y="1886992"/>
            <a:ext cx="25065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software quantization tools (bitsandbytes, llama.cpp) on local hardware to validate CipherCore findings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1945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43275" y="1601242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18880" y="1632645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629025" y="1632645"/>
            <a:ext cx="10096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Hardware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43275" y="1886992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newer accelerators: Groq LPU, AWS Inferentia, Google TPU — all natively support quantized inference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57900" y="1477417"/>
            <a:ext cx="2705100" cy="962025"/>
          </a:xfrm>
          <a:prstGeom prst="roundRect">
            <a:avLst>
              <a:gd name="adj" fmla="val 5941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1725" y="1601242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180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57330" y="1632645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467475" y="1632645"/>
            <a:ext cx="1100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Cost-Benefit Analysis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181725" y="1886992"/>
            <a:ext cx="25065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ownership: GPU rental vs FPGA deployment vs custom ASICs at datacenter scale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1000" y="2744242"/>
            <a:ext cx="8382000" cy="584746"/>
          </a:xfrm>
          <a:prstGeom prst="roundRect">
            <a:avLst>
              <a:gd name="adj" fmla="val 9773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4825" y="2868067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Research Direction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04825" y="3071813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Oltron's adaptive quantization with FlightLLM's sparsity exploitation — could yield even greater efficiency gains by addressing both outliers and zeros simultaneously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595688"/>
            <a:ext cx="8382000" cy="718096"/>
          </a:xfrm>
          <a:prstGeom prst="roundRect">
            <a:avLst>
              <a:gd name="adj" fmla="val 795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4825" y="3719512"/>
            <a:ext cx="8297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Connection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04825" y="3923258"/>
            <a:ext cx="8297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hardware approaches exemplify the memory hierarchy optimization, dataflow architecture, and hardware-software co-design concepts from our Advanced Computer Architecture curriculum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418481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1826121"/>
            <a:ext cx="2717750" cy="790575"/>
          </a:xfrm>
          <a:prstGeom prst="roundRect">
            <a:avLst>
              <a:gd name="adj" fmla="val 7229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825" y="194994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40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7276" y="198417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625" y="1990874"/>
            <a:ext cx="8970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Matters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2235696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is memory-bound. Custom hardware eliminates dequantization overhead that limits software approaches.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13050" y="1826121"/>
            <a:ext cx="2717750" cy="790575"/>
          </a:xfrm>
          <a:prstGeom prst="roundRect">
            <a:avLst>
              <a:gd name="adj" fmla="val 7229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6875" y="194994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665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9326" y="198417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41675" y="1990874"/>
            <a:ext cx="8185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Wins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336875" y="2235696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+ hardware designed together — Oltron's adaptive quant + reconfigurable PEs, FlightLLM's sparse DSPs.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045101" y="1826121"/>
            <a:ext cx="2717750" cy="790575"/>
          </a:xfrm>
          <a:prstGeom prst="roundRect">
            <a:avLst>
              <a:gd name="adj" fmla="val 722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68926" y="194994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240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1377" y="1984177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73726" y="1990874"/>
            <a:ext cx="7069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Key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68926" y="2235696"/>
            <a:ext cx="251950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FlightLLM's 6x efficiency shows why specialized accelerators matter for sustainable AI deployment at scale.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81000" y="2902446"/>
            <a:ext cx="8382000" cy="855018"/>
          </a:xfrm>
          <a:prstGeom prst="roundRect">
            <a:avLst>
              <a:gd name="adj" fmla="val 6684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3197" y="3035796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to Remember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091912" y="3258592"/>
            <a:ext cx="71272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 GB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091912" y="3517553"/>
            <a:ext cx="7127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LLaMA-70B memory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82937" y="3258592"/>
            <a:ext cx="5314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982937" y="3517553"/>
            <a:ext cx="5314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speedup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92973" y="3258592"/>
            <a:ext cx="6855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92973" y="3517553"/>
            <a:ext cx="6855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efficiency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557474" y="3258592"/>
            <a:ext cx="49245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557474" y="3517553"/>
            <a:ext cx="49245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300W GPU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81000" y="4024164"/>
            <a:ext cx="8382000" cy="329505"/>
          </a:xfrm>
          <a:prstGeom prst="roundRect">
            <a:avLst>
              <a:gd name="adj" fmla="val 17344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3875" y="4128939"/>
            <a:ext cx="825817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Oltron (DAC 2024, Peking University) · FlightLLM (FPGA 2024, Tsinghua and SJTU) · CipherCore Benchmark Study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87713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7502" y="1006822"/>
            <a:ext cx="31288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Questions?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4000500" y="1749772"/>
            <a:ext cx="11430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99457" y="2216497"/>
            <a:ext cx="31449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2250"/>
              </a:spcAft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Hardware/Software Co-Design for LLM Quantization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25661" y="3031778"/>
            <a:ext cx="612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25661" y="3336578"/>
            <a:ext cx="61253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Oltron Speedup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210282" y="3031778"/>
            <a:ext cx="780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D3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10282" y="3336578"/>
            <a:ext cx="78088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FlightLLM Efficiency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263829" y="3031778"/>
            <a:ext cx="553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0C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63829" y="3336578"/>
            <a:ext cx="55393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300W GPU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490847" y="3989933"/>
            <a:ext cx="2162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Gyanu Pandey · CECS 528 · December 2024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8809434" y="4781550"/>
            <a:ext cx="108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Hardware/Software Co-Design for LLM Quantization</dc:title>
  <dc:subject>CECS 528 - Advanced Computer Architecture</dc:subject>
  <dc:creator>Gyanu Pandey</dc:creator>
  <cp:lastModifiedBy>Gyanu Pandey</cp:lastModifiedBy>
  <cp:revision>1</cp:revision>
  <dcterms:created xsi:type="dcterms:W3CDTF">2025-12-06T10:17:04Z</dcterms:created>
  <dcterms:modified xsi:type="dcterms:W3CDTF">2025-12-06T10:17:04Z</dcterms:modified>
</cp:coreProperties>
</file>